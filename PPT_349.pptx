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135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3606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512445"/>
          </a:xfrm>
          <a:custGeom>
            <a:avLst/>
            <a:gdLst/>
            <a:ahLst/>
            <a:cxnLst/>
            <a:rect l="l" t="t" r="r" b="b"/>
            <a:pathLst>
              <a:path w="4608195" h="512445">
                <a:moveTo>
                  <a:pt x="0" y="0"/>
                </a:moveTo>
                <a:lnTo>
                  <a:pt x="0" y="512431"/>
                </a:lnTo>
                <a:lnTo>
                  <a:pt x="4608060" y="512431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8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40901"/>
            <a:ext cx="4608195" cy="28575"/>
          </a:xfrm>
          <a:custGeom>
            <a:avLst/>
            <a:gdLst/>
            <a:ahLst/>
            <a:cxnLst/>
            <a:rect l="l" t="t" r="r" b="b"/>
            <a:pathLst>
              <a:path w="4608195" h="28575">
                <a:moveTo>
                  <a:pt x="0" y="0"/>
                </a:moveTo>
                <a:lnTo>
                  <a:pt x="0" y="28470"/>
                </a:lnTo>
                <a:lnTo>
                  <a:pt x="4608060" y="28470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359292"/>
            <a:ext cx="4608195" cy="97155"/>
          </a:xfrm>
          <a:custGeom>
            <a:avLst/>
            <a:gdLst/>
            <a:ahLst/>
            <a:cxnLst/>
            <a:rect l="l" t="t" r="r" b="b"/>
            <a:pathLst>
              <a:path w="4608195" h="97154">
                <a:moveTo>
                  <a:pt x="0" y="0"/>
                </a:moveTo>
                <a:lnTo>
                  <a:pt x="0" y="96707"/>
                </a:lnTo>
                <a:lnTo>
                  <a:pt x="4608004" y="96707"/>
                </a:lnTo>
                <a:lnTo>
                  <a:pt x="460800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88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95199" y="150961"/>
            <a:ext cx="535370" cy="5353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1323273"/>
            <a:ext cx="3915511" cy="418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283" y="896142"/>
            <a:ext cx="3650615" cy="70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3606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688" y="3349927"/>
            <a:ext cx="171323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" y="0"/>
            <a:ext cx="4608195" cy="3456304"/>
            <a:chOff x="0" y="0"/>
            <a:chExt cx="4608195" cy="34563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"/>
              <a:ext cx="4608004" cy="34559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173" y="93"/>
              <a:ext cx="4573270" cy="3456304"/>
            </a:xfrm>
            <a:custGeom>
              <a:avLst/>
              <a:gdLst/>
              <a:ahLst/>
              <a:cxnLst/>
              <a:rect l="l" t="t" r="r" b="b"/>
              <a:pathLst>
                <a:path w="4573270" h="3456304">
                  <a:moveTo>
                    <a:pt x="4572830" y="0"/>
                  </a:moveTo>
                  <a:lnTo>
                    <a:pt x="0" y="0"/>
                  </a:lnTo>
                  <a:lnTo>
                    <a:pt x="0" y="3455906"/>
                  </a:lnTo>
                  <a:lnTo>
                    <a:pt x="4572830" y="3455906"/>
                  </a:lnTo>
                  <a:lnTo>
                    <a:pt x="4572830" y="0"/>
                  </a:lnTo>
                  <a:close/>
                </a:path>
              </a:pathLst>
            </a:custGeom>
            <a:solidFill>
              <a:srgbClr val="FFFFFF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951" y="0"/>
              <a:ext cx="820102" cy="7653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12329" y="872844"/>
            <a:ext cx="21837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60" dirty="0">
                <a:solidFill>
                  <a:srgbClr val="53606D"/>
                </a:solidFill>
                <a:latin typeface="Georgia"/>
                <a:cs typeface="Georgia"/>
              </a:rPr>
              <a:t>SVPM’s</a:t>
            </a:r>
            <a:r>
              <a:rPr sz="800" b="1" spc="120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800" b="1" spc="65" dirty="0">
                <a:solidFill>
                  <a:srgbClr val="53606D"/>
                </a:solidFill>
                <a:latin typeface="Georgia"/>
                <a:cs typeface="Georgia"/>
              </a:rPr>
              <a:t>COE,</a:t>
            </a:r>
            <a:r>
              <a:rPr sz="800" b="1" spc="120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800" b="1" spc="5" dirty="0">
                <a:solidFill>
                  <a:srgbClr val="53606D"/>
                </a:solidFill>
                <a:latin typeface="Georgia"/>
                <a:cs typeface="Georgia"/>
              </a:rPr>
              <a:t>Malegaon</a:t>
            </a:r>
            <a:r>
              <a:rPr sz="800" b="1" spc="125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800" b="1" spc="95" dirty="0">
                <a:solidFill>
                  <a:srgbClr val="53606D"/>
                </a:solidFill>
                <a:latin typeface="Georgia"/>
                <a:cs typeface="Georgia"/>
              </a:rPr>
              <a:t>BK</a:t>
            </a:r>
            <a:r>
              <a:rPr sz="800" b="1" spc="120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800" b="1" spc="10" dirty="0">
                <a:solidFill>
                  <a:srgbClr val="53606D"/>
                </a:solidFill>
                <a:latin typeface="Georgia"/>
                <a:cs typeface="Georgia"/>
              </a:rPr>
              <a:t>Baramati.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44600" marR="5080" indent="-1232535">
              <a:lnSpc>
                <a:spcPts val="1370"/>
              </a:lnSpc>
              <a:spcBef>
                <a:spcPts val="434"/>
              </a:spcBef>
            </a:pPr>
            <a:r>
              <a:rPr spc="30" dirty="0"/>
              <a:t>Preserving</a:t>
            </a:r>
            <a:r>
              <a:rPr spc="180" dirty="0"/>
              <a:t> </a:t>
            </a:r>
            <a:r>
              <a:rPr spc="40" dirty="0"/>
              <a:t>Heritage</a:t>
            </a:r>
            <a:r>
              <a:rPr spc="185" dirty="0"/>
              <a:t> </a:t>
            </a:r>
            <a:r>
              <a:rPr spc="45" dirty="0"/>
              <a:t>:</a:t>
            </a:r>
            <a:r>
              <a:rPr spc="375" dirty="0"/>
              <a:t> </a:t>
            </a:r>
            <a:r>
              <a:rPr spc="55" dirty="0"/>
              <a:t>Augmented</a:t>
            </a:r>
            <a:r>
              <a:rPr spc="185" dirty="0"/>
              <a:t> </a:t>
            </a:r>
            <a:r>
              <a:rPr spc="55" dirty="0"/>
              <a:t>Reality</a:t>
            </a:r>
            <a:r>
              <a:rPr spc="185" dirty="0"/>
              <a:t> </a:t>
            </a:r>
            <a:r>
              <a:rPr spc="10" dirty="0"/>
              <a:t>in </a:t>
            </a:r>
            <a:r>
              <a:rPr spc="-295" dirty="0"/>
              <a:t> </a:t>
            </a:r>
            <a:r>
              <a:rPr spc="55" dirty="0"/>
              <a:t>Ancient</a:t>
            </a:r>
            <a:r>
              <a:rPr spc="210" dirty="0"/>
              <a:t> </a:t>
            </a:r>
            <a:r>
              <a:rPr spc="60" dirty="0"/>
              <a:t>Murals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9567" y="2210681"/>
            <a:ext cx="1464310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">
              <a:lnSpc>
                <a:spcPts val="1200"/>
              </a:lnSpc>
              <a:spcBef>
                <a:spcPts val="95"/>
              </a:spcBef>
            </a:pPr>
            <a:r>
              <a:rPr sz="1000" b="1" spc="-15" dirty="0">
                <a:solidFill>
                  <a:srgbClr val="53606D"/>
                </a:solidFill>
                <a:latin typeface="Georgia"/>
                <a:cs typeface="Georgia"/>
              </a:rPr>
              <a:t>Tabe</a:t>
            </a:r>
            <a:r>
              <a:rPr sz="1000" b="1" spc="105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000" b="1" spc="15" dirty="0">
                <a:solidFill>
                  <a:srgbClr val="53606D"/>
                </a:solidFill>
                <a:latin typeface="Georgia"/>
                <a:cs typeface="Georgia"/>
              </a:rPr>
              <a:t>Arti</a:t>
            </a:r>
            <a:r>
              <a:rPr sz="1000" b="1" spc="110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000" b="1" spc="-30" dirty="0">
                <a:solidFill>
                  <a:srgbClr val="53606D"/>
                </a:solidFill>
                <a:latin typeface="Georgia"/>
                <a:cs typeface="Georgia"/>
              </a:rPr>
              <a:t>Ravindra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sz="1000" spc="-30" dirty="0">
                <a:solidFill>
                  <a:srgbClr val="53606D"/>
                </a:solidFill>
                <a:latin typeface="Georgia"/>
                <a:cs typeface="Georgia"/>
              </a:rPr>
              <a:t>Under</a:t>
            </a:r>
            <a:r>
              <a:rPr sz="1000" spc="70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000" spc="10" dirty="0">
                <a:solidFill>
                  <a:srgbClr val="53606D"/>
                </a:solidFill>
                <a:latin typeface="Georgia"/>
                <a:cs typeface="Georgia"/>
              </a:rPr>
              <a:t>The</a:t>
            </a:r>
            <a:r>
              <a:rPr sz="1000" spc="75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53606D"/>
                </a:solidFill>
                <a:latin typeface="Georgia"/>
                <a:cs typeface="Georgia"/>
              </a:rPr>
              <a:t>Guidance</a:t>
            </a:r>
            <a:r>
              <a:rPr sz="1000" spc="75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Georgia"/>
                <a:cs typeface="Georgia"/>
              </a:rPr>
              <a:t>Of</a:t>
            </a:r>
            <a:endParaRPr sz="1000">
              <a:latin typeface="Georgia"/>
              <a:cs typeface="Georgia"/>
            </a:endParaRPr>
          </a:p>
          <a:p>
            <a:pPr marL="22225">
              <a:lnSpc>
                <a:spcPct val="100000"/>
              </a:lnSpc>
              <a:spcBef>
                <a:spcPts val="395"/>
              </a:spcBef>
            </a:pPr>
            <a:r>
              <a:rPr sz="1200" b="1" spc="-35" dirty="0">
                <a:solidFill>
                  <a:srgbClr val="53606D"/>
                </a:solidFill>
                <a:latin typeface="Georgia"/>
                <a:cs typeface="Georgia"/>
              </a:rPr>
              <a:t>Prof.</a:t>
            </a:r>
            <a:r>
              <a:rPr sz="1200" b="1" spc="254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200" b="1" spc="-30" dirty="0">
                <a:solidFill>
                  <a:srgbClr val="53606D"/>
                </a:solidFill>
                <a:latin typeface="Georgia"/>
                <a:cs typeface="Georgia"/>
              </a:rPr>
              <a:t>P.</a:t>
            </a:r>
            <a:r>
              <a:rPr sz="1200" b="1" spc="114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200" b="1" spc="10" dirty="0">
                <a:solidFill>
                  <a:srgbClr val="53606D"/>
                </a:solidFill>
                <a:latin typeface="Georgia"/>
                <a:cs typeface="Georgia"/>
              </a:rPr>
              <a:t>N.</a:t>
            </a:r>
            <a:r>
              <a:rPr sz="1200" b="1" spc="114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1200" b="1" spc="-45" dirty="0">
                <a:solidFill>
                  <a:srgbClr val="53606D"/>
                </a:solidFill>
                <a:latin typeface="Georgia"/>
                <a:cs typeface="Georgia"/>
              </a:rPr>
              <a:t>Kadam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9544" y="3146969"/>
            <a:ext cx="8293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20" dirty="0">
                <a:solidFill>
                  <a:srgbClr val="53606D"/>
                </a:solidFill>
                <a:latin typeface="Georgia"/>
                <a:cs typeface="Georgia"/>
              </a:rPr>
              <a:t>October</a:t>
            </a:r>
            <a:r>
              <a:rPr sz="800" spc="55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800" spc="40" dirty="0">
                <a:solidFill>
                  <a:srgbClr val="53606D"/>
                </a:solidFill>
                <a:latin typeface="Georgia"/>
                <a:cs typeface="Georgia"/>
              </a:rPr>
              <a:t>17,</a:t>
            </a:r>
            <a:r>
              <a:rPr sz="800" spc="55" dirty="0">
                <a:solidFill>
                  <a:srgbClr val="53606D"/>
                </a:solidFill>
                <a:latin typeface="Georgia"/>
                <a:cs typeface="Georgia"/>
              </a:rPr>
              <a:t> </a:t>
            </a:r>
            <a:r>
              <a:rPr sz="800" spc="-40" dirty="0">
                <a:solidFill>
                  <a:srgbClr val="53606D"/>
                </a:solidFill>
                <a:latin typeface="Georgia"/>
                <a:cs typeface="Georgia"/>
              </a:rPr>
              <a:t>2024</a:t>
            </a:r>
            <a:endParaRPr sz="8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8444" y="300604"/>
            <a:ext cx="126449" cy="1812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1321" y="36521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7294" y="137830"/>
            <a:ext cx="9779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571" y="1143932"/>
            <a:ext cx="3722370" cy="1354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marR="78105" indent="-168910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tell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captivating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stories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civilization’s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history,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beliefs,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daily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life.</a:t>
            </a:r>
            <a:endParaRPr sz="1000">
              <a:latin typeface="Microsoft Sans Serif"/>
              <a:cs typeface="Microsoft Sans Serif"/>
            </a:endParaRPr>
          </a:p>
          <a:p>
            <a:pPr marL="180975" marR="34290" indent="-168910">
              <a:lnSpc>
                <a:spcPct val="100000"/>
              </a:lnSpc>
              <a:spcBef>
                <a:spcPts val="290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skilled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work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careful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details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seen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these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show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artistic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talent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people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from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past.</a:t>
            </a:r>
            <a:endParaRPr sz="1000">
              <a:latin typeface="Microsoft Sans Serif"/>
              <a:cs typeface="Microsoft Sans Serif"/>
            </a:endParaRPr>
          </a:p>
          <a:p>
            <a:pPr marL="180975" marR="5080" indent="-168910">
              <a:lnSpc>
                <a:spcPct val="100000"/>
              </a:lnSpc>
              <a:spcBef>
                <a:spcPts val="290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provide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important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insights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into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region’s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cultural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history </a:t>
            </a:r>
            <a:r>
              <a:rPr sz="1000" spc="-254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traditions.</a:t>
            </a:r>
            <a:endParaRPr sz="1000">
              <a:latin typeface="Microsoft Sans Serif"/>
              <a:cs typeface="Microsoft Sans Serif"/>
            </a:endParaRPr>
          </a:p>
          <a:p>
            <a:pPr marL="180975" marR="113030" indent="-168910">
              <a:lnSpc>
                <a:spcPct val="100000"/>
              </a:lnSpc>
              <a:spcBef>
                <a:spcPts val="290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Augmented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reality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brings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life,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allowing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us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explore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their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history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significance.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7250" y="253235"/>
            <a:ext cx="127642" cy="2286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1321" y="36521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2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7294" y="139100"/>
            <a:ext cx="1581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</a:t>
            </a:r>
            <a:r>
              <a:rPr b="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7294" y="1242623"/>
            <a:ext cx="3617595" cy="108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u="sng" spc="20" dirty="0">
                <a:solidFill>
                  <a:srgbClr val="53606D"/>
                </a:solidFill>
                <a:uFill>
                  <a:solidFill>
                    <a:srgbClr val="53606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b="1" u="sng" spc="-10" dirty="0">
                <a:solidFill>
                  <a:srgbClr val="53606D"/>
                </a:solidFill>
                <a:uFill>
                  <a:solidFill>
                    <a:srgbClr val="53606D"/>
                  </a:solidFill>
                </a:uFill>
                <a:latin typeface="Arial"/>
                <a:cs typeface="Arial"/>
              </a:rPr>
              <a:t>Problem</a:t>
            </a:r>
            <a:r>
              <a:rPr sz="1000" b="1" u="sng" spc="-30" dirty="0">
                <a:solidFill>
                  <a:srgbClr val="53606D"/>
                </a:solidFill>
                <a:uFill>
                  <a:solidFill>
                    <a:srgbClr val="53606D"/>
                  </a:solidFill>
                </a:uFill>
                <a:latin typeface="Arial"/>
                <a:cs typeface="Arial"/>
              </a:rPr>
              <a:t> </a:t>
            </a:r>
            <a:r>
              <a:rPr sz="1000" b="1" u="sng" spc="-5" dirty="0">
                <a:solidFill>
                  <a:srgbClr val="53606D"/>
                </a:solidFill>
                <a:uFill>
                  <a:solidFill>
                    <a:srgbClr val="53606D"/>
                  </a:solidFill>
                </a:uFill>
                <a:latin typeface="Arial"/>
                <a:cs typeface="Arial"/>
              </a:rPr>
              <a:t>Statement: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"Ancient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very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delicate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be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easily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damaged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by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environmental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factors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like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humidity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temperature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changes.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50"/>
              </a:lnSpc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Researchers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often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need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look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them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3606D"/>
                </a:solidFill>
                <a:latin typeface="Microsoft Sans Serif"/>
                <a:cs typeface="Microsoft Sans Serif"/>
              </a:rPr>
              <a:t>closely,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which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can</a:t>
            </a:r>
            <a:endParaRPr sz="1000">
              <a:latin typeface="Microsoft Sans Serif"/>
              <a:cs typeface="Microsoft Sans Serif"/>
            </a:endParaRPr>
          </a:p>
          <a:p>
            <a:pPr marL="12700" marR="17145">
              <a:lnSpc>
                <a:spcPts val="1200"/>
              </a:lnSpc>
              <a:spcBef>
                <a:spcPts val="35"/>
              </a:spcBef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accidentally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harm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these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valuable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artworks.</a:t>
            </a:r>
            <a:r>
              <a:rPr sz="1000" spc="7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This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creates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big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challenge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studying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appreciating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these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cultural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treasures, </a:t>
            </a:r>
            <a:r>
              <a:rPr sz="1000" spc="-254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making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harder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understand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their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history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artistic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value."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7395" y="213789"/>
            <a:ext cx="168054" cy="2686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1321" y="364562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3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7294" y="137830"/>
            <a:ext cx="8515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Moti</a:t>
            </a:r>
            <a:r>
              <a:rPr b="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571" y="1083200"/>
            <a:ext cx="3732529" cy="1506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indent="-168910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Easy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scientists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research.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300">
              <a:latin typeface="Microsoft Sans Serif"/>
              <a:cs typeface="Microsoft Sans Serif"/>
            </a:endParaRPr>
          </a:p>
          <a:p>
            <a:pPr marL="180975" marR="5080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Anyone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who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wishes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visit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cultural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heritage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sites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but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cannot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do </a:t>
            </a:r>
            <a:r>
              <a:rPr sz="1000" spc="-254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so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various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reasons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still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experience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them.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300">
              <a:latin typeface="Microsoft Sans Serif"/>
              <a:cs typeface="Microsoft Sans Serif"/>
            </a:endParaRPr>
          </a:p>
          <a:p>
            <a:pPr marL="180975" marR="278765" indent="-168910">
              <a:lnSpc>
                <a:spcPct val="100000"/>
              </a:lnSpc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Our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next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generation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should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not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miss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out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on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seeing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cultural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heritage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due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its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destruction.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30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Accessible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student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help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studying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such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places.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9726" y="184274"/>
            <a:ext cx="215167" cy="2975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1321" y="36521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4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7294" y="121790"/>
            <a:ext cx="780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Objective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571" y="1083810"/>
            <a:ext cx="3759200" cy="1506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indent="-168910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Develop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techniques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protect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preserve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300">
              <a:latin typeface="Microsoft Sans Serif"/>
              <a:cs typeface="Microsoft Sans Serif"/>
            </a:endParaRPr>
          </a:p>
          <a:p>
            <a:pPr marL="180975" marR="41084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Provide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interactive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digital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models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detailed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analysis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by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researchers.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30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Minimize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risks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damage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from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traditional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examination</a:t>
            </a:r>
            <a:r>
              <a:rPr sz="10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methods.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300">
              <a:latin typeface="Microsoft Sans Serif"/>
              <a:cs typeface="Microsoft Sans Serif"/>
            </a:endParaRPr>
          </a:p>
          <a:p>
            <a:pPr marL="180975" marR="162560" indent="-168910">
              <a:lnSpc>
                <a:spcPct val="100000"/>
              </a:lnSpc>
              <a:buClr>
                <a:srgbClr val="006889"/>
              </a:buClr>
              <a:buAutoNum type="arabicPeriod"/>
              <a:tabLst>
                <a:tab pos="181610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Increase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accessibility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scholars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public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learn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enjoy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79120" cy="535940"/>
            <a:chOff x="3995199" y="150961"/>
            <a:chExt cx="579120" cy="535940"/>
          </a:xfrm>
        </p:grpSpPr>
        <p:sp>
          <p:nvSpPr>
            <p:cNvPr id="3" name="object 3"/>
            <p:cNvSpPr/>
            <p:nvPr/>
          </p:nvSpPr>
          <p:spPr>
            <a:xfrm>
              <a:off x="4204689" y="170131"/>
              <a:ext cx="307340" cy="248920"/>
            </a:xfrm>
            <a:custGeom>
              <a:avLst/>
              <a:gdLst/>
              <a:ahLst/>
              <a:cxnLst/>
              <a:rect l="l" t="t" r="r" b="b"/>
              <a:pathLst>
                <a:path w="307339" h="248920">
                  <a:moveTo>
                    <a:pt x="306979" y="248515"/>
                  </a:moveTo>
                  <a:lnTo>
                    <a:pt x="301431" y="196247"/>
                  </a:lnTo>
                  <a:lnTo>
                    <a:pt x="285359" y="147080"/>
                  </a:lnTo>
                  <a:lnTo>
                    <a:pt x="259622" y="102502"/>
                  </a:lnTo>
                  <a:lnTo>
                    <a:pt x="225078" y="63999"/>
                  </a:lnTo>
                  <a:lnTo>
                    <a:pt x="182587" y="33060"/>
                  </a:lnTo>
                  <a:lnTo>
                    <a:pt x="139480" y="13388"/>
                  </a:lnTo>
                  <a:lnTo>
                    <a:pt x="93832" y="2307"/>
                  </a:lnTo>
                  <a:lnTo>
                    <a:pt x="46914" y="0"/>
                  </a:lnTo>
                  <a:lnTo>
                    <a:pt x="0" y="6647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95239" y="16732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899"/>
                  </a:lnTo>
                  <a:lnTo>
                    <a:pt x="14669" y="18899"/>
                  </a:lnTo>
                  <a:lnTo>
                    <a:pt x="18899" y="14669"/>
                  </a:lnTo>
                  <a:lnTo>
                    <a:pt x="18899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281" y="356259"/>
              <a:ext cx="124774" cy="1247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81321" y="364143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7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21790"/>
            <a:ext cx="16560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Architecture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073" y="810505"/>
            <a:ext cx="2225614" cy="11599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5706" y="2093996"/>
            <a:ext cx="35172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Figure:</a:t>
            </a:r>
            <a:r>
              <a:rPr sz="9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System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composition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diagram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augmented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reality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technology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4769" y="2586252"/>
            <a:ext cx="2267242" cy="14678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3699" y="2857342"/>
            <a:ext cx="3420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Figure:</a:t>
            </a:r>
            <a:r>
              <a:rPr sz="9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Operation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process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diagram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image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recognition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technology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80390" cy="535940"/>
            <a:chOff x="3995199" y="150961"/>
            <a:chExt cx="580390" cy="535940"/>
          </a:xfrm>
        </p:grpSpPr>
        <p:sp>
          <p:nvSpPr>
            <p:cNvPr id="3" name="object 3"/>
            <p:cNvSpPr/>
            <p:nvPr/>
          </p:nvSpPr>
          <p:spPr>
            <a:xfrm>
              <a:off x="4151998" y="169861"/>
              <a:ext cx="360045" cy="248920"/>
            </a:xfrm>
            <a:custGeom>
              <a:avLst/>
              <a:gdLst/>
              <a:ahLst/>
              <a:cxnLst/>
              <a:rect l="l" t="t" r="r" b="b"/>
              <a:pathLst>
                <a:path w="360045" h="248920">
                  <a:moveTo>
                    <a:pt x="359670" y="248784"/>
                  </a:moveTo>
                  <a:lnTo>
                    <a:pt x="355662" y="204065"/>
                  </a:lnTo>
                  <a:lnTo>
                    <a:pt x="344106" y="161975"/>
                  </a:lnTo>
                  <a:lnTo>
                    <a:pt x="325704" y="123217"/>
                  </a:lnTo>
                  <a:lnTo>
                    <a:pt x="301159" y="88495"/>
                  </a:lnTo>
                  <a:lnTo>
                    <a:pt x="271175" y="58510"/>
                  </a:lnTo>
                  <a:lnTo>
                    <a:pt x="236452" y="33966"/>
                  </a:lnTo>
                  <a:lnTo>
                    <a:pt x="197695" y="15564"/>
                  </a:lnTo>
                  <a:lnTo>
                    <a:pt x="155605" y="4008"/>
                  </a:lnTo>
                  <a:lnTo>
                    <a:pt x="110885" y="0"/>
                  </a:lnTo>
                  <a:lnTo>
                    <a:pt x="82171" y="1665"/>
                  </a:lnTo>
                  <a:lnTo>
                    <a:pt x="53929" y="6616"/>
                  </a:lnTo>
                  <a:lnTo>
                    <a:pt x="26444" y="14783"/>
                  </a:lnTo>
                  <a:lnTo>
                    <a:pt x="0" y="26094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2548" y="18650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899"/>
                  </a:lnTo>
                  <a:lnTo>
                    <a:pt x="14669" y="18899"/>
                  </a:lnTo>
                  <a:lnTo>
                    <a:pt x="18899" y="14669"/>
                  </a:lnTo>
                  <a:lnTo>
                    <a:pt x="18899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7888" y="354866"/>
              <a:ext cx="127561" cy="12756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81321" y="364562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8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571" y="3010873"/>
            <a:ext cx="1301750" cy="185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9.</a:t>
            </a:r>
            <a:r>
              <a:rPr sz="1000" spc="204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9: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Overlay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688" y="3314543"/>
            <a:ext cx="2285365" cy="18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Preservin</a:t>
            </a:r>
            <a:r>
              <a:rPr sz="1500" spc="-82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1</a:t>
            </a: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195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0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He</a:t>
            </a:r>
            <a:r>
              <a:rPr sz="1500" spc="-195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.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rita</a:t>
            </a:r>
            <a:r>
              <a:rPr sz="1500" b="1" spc="-195" baseline="-11111" dirty="0">
                <a:solidFill>
                  <a:srgbClr val="53606D"/>
                </a:solidFill>
                <a:latin typeface="Arial"/>
                <a:cs typeface="Arial"/>
              </a:rPr>
              <a:t>S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ge</a:t>
            </a:r>
            <a:r>
              <a:rPr sz="1500" b="1" spc="-195" baseline="-11111" dirty="0">
                <a:solidFill>
                  <a:srgbClr val="53606D"/>
                </a:solidFill>
                <a:latin typeface="Arial"/>
                <a:cs typeface="Arial"/>
              </a:rPr>
              <a:t>t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e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Au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p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gme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1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0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ed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: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Re</a:t>
            </a:r>
            <a:r>
              <a:rPr sz="1500" spc="-24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R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alit</a:t>
            </a:r>
            <a:r>
              <a:rPr sz="1500" spc="-24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e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a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5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l-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nc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T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ien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im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Mu</a:t>
            </a:r>
            <a:r>
              <a:rPr sz="1500" spc="-18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e</a:t>
            </a:r>
            <a:r>
              <a:rPr sz="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rals</a:t>
            </a:r>
            <a:r>
              <a:rPr sz="1500" spc="-18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P</a:t>
            </a:r>
            <a:r>
              <a:rPr sz="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5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rocessing</a:t>
            </a:r>
            <a:endParaRPr sz="1500" baseline="-11111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20698"/>
            <a:ext cx="13442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SURF</a:t>
            </a:r>
            <a:r>
              <a:rPr b="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1571" y="575632"/>
            <a:ext cx="2119630" cy="2303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indent="-168910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1: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Image Acquisition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2: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Scale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Space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Creation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3:</a:t>
            </a:r>
            <a:r>
              <a:rPr sz="1000" b="1" spc="5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Keypoint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Detection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4: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Finding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Local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Maxima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5: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Assigning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Orientation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6:</a:t>
            </a:r>
            <a:r>
              <a:rPr sz="1000" b="1" spc="6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Keypoint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Descriptors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7: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Feature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Matching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8:</a:t>
            </a:r>
            <a:r>
              <a:rPr sz="1000" b="1" spc="5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Transformation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Estimation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80390" cy="535940"/>
            <a:chOff x="3995199" y="150961"/>
            <a:chExt cx="580390" cy="535940"/>
          </a:xfrm>
        </p:grpSpPr>
        <p:sp>
          <p:nvSpPr>
            <p:cNvPr id="3" name="object 3"/>
            <p:cNvSpPr/>
            <p:nvPr/>
          </p:nvSpPr>
          <p:spPr>
            <a:xfrm>
              <a:off x="4104945" y="169861"/>
              <a:ext cx="407034" cy="248920"/>
            </a:xfrm>
            <a:custGeom>
              <a:avLst/>
              <a:gdLst/>
              <a:ahLst/>
              <a:cxnLst/>
              <a:rect l="l" t="t" r="r" b="b"/>
              <a:pathLst>
                <a:path w="407035" h="248920">
                  <a:moveTo>
                    <a:pt x="406723" y="248784"/>
                  </a:moveTo>
                  <a:lnTo>
                    <a:pt x="402715" y="204065"/>
                  </a:lnTo>
                  <a:lnTo>
                    <a:pt x="391159" y="161975"/>
                  </a:lnTo>
                  <a:lnTo>
                    <a:pt x="372757" y="123217"/>
                  </a:lnTo>
                  <a:lnTo>
                    <a:pt x="348213" y="88495"/>
                  </a:lnTo>
                  <a:lnTo>
                    <a:pt x="318228" y="58510"/>
                  </a:lnTo>
                  <a:lnTo>
                    <a:pt x="283506" y="33966"/>
                  </a:lnTo>
                  <a:lnTo>
                    <a:pt x="244748" y="15564"/>
                  </a:lnTo>
                  <a:lnTo>
                    <a:pt x="202658" y="4008"/>
                  </a:lnTo>
                  <a:lnTo>
                    <a:pt x="157938" y="0"/>
                  </a:lnTo>
                  <a:lnTo>
                    <a:pt x="115221" y="3700"/>
                  </a:lnTo>
                  <a:lnTo>
                    <a:pt x="74057" y="14582"/>
                  </a:lnTo>
                  <a:lnTo>
                    <a:pt x="35349" y="32319"/>
                  </a:lnTo>
                  <a:lnTo>
                    <a:pt x="0" y="56585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5495" y="21699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1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1" y="18899"/>
                  </a:lnTo>
                  <a:lnTo>
                    <a:pt x="14669" y="18899"/>
                  </a:lnTo>
                  <a:lnTo>
                    <a:pt x="18900" y="14669"/>
                  </a:lnTo>
                  <a:lnTo>
                    <a:pt x="18900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7888" y="354866"/>
              <a:ext cx="127561" cy="12756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81321" y="364562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9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571" y="3010873"/>
            <a:ext cx="1301750" cy="185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9.</a:t>
            </a:r>
            <a:r>
              <a:rPr sz="1000" spc="204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9: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Overlay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688" y="3314543"/>
            <a:ext cx="2285365" cy="18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Preservin</a:t>
            </a:r>
            <a:r>
              <a:rPr sz="1500" spc="-82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1</a:t>
            </a: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195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0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He</a:t>
            </a:r>
            <a:r>
              <a:rPr sz="1500" spc="-195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.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rita</a:t>
            </a:r>
            <a:r>
              <a:rPr sz="1500" b="1" spc="-195" baseline="-11111" dirty="0">
                <a:solidFill>
                  <a:srgbClr val="53606D"/>
                </a:solidFill>
                <a:latin typeface="Arial"/>
                <a:cs typeface="Arial"/>
              </a:rPr>
              <a:t>S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ge</a:t>
            </a:r>
            <a:r>
              <a:rPr sz="1500" b="1" spc="-195" baseline="-11111" dirty="0">
                <a:solidFill>
                  <a:srgbClr val="53606D"/>
                </a:solidFill>
                <a:latin typeface="Arial"/>
                <a:cs typeface="Arial"/>
              </a:rPr>
              <a:t>t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e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Au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p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gme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1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0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ed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: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Re</a:t>
            </a:r>
            <a:r>
              <a:rPr sz="1500" spc="-24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R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alit</a:t>
            </a:r>
            <a:r>
              <a:rPr sz="1500" spc="-24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e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a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5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l-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nc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T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ien</a:t>
            </a:r>
            <a:r>
              <a:rPr sz="1500" spc="-284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im</a:t>
            </a:r>
            <a:r>
              <a:rPr sz="5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Mu</a:t>
            </a:r>
            <a:r>
              <a:rPr sz="1500" spc="-18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e</a:t>
            </a:r>
            <a:r>
              <a:rPr sz="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rals</a:t>
            </a:r>
            <a:r>
              <a:rPr sz="1500" spc="-18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P</a:t>
            </a:r>
            <a:r>
              <a:rPr sz="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5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rocessing</a:t>
            </a:r>
            <a:endParaRPr sz="1500" baseline="-11111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18602"/>
            <a:ext cx="14560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FREAK</a:t>
            </a:r>
            <a:r>
              <a:rPr b="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1571" y="575632"/>
            <a:ext cx="2190750" cy="2303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indent="-168910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1:</a:t>
            </a:r>
            <a:r>
              <a:rPr sz="1000" b="1" spc="5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Keypoint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Detection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2:</a:t>
            </a:r>
            <a:r>
              <a:rPr sz="1000" b="1" spc="5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Orientation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Assignment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3: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Sampling Pattern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Definition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4: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Image Sampling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5:</a:t>
            </a:r>
            <a:r>
              <a:rPr sz="1000" b="1" spc="5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Binary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Descriptor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Creation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6:</a:t>
            </a:r>
            <a:r>
              <a:rPr sz="1000" b="1" spc="6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Descriptor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Normalization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7: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Feature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Matching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180975" indent="-168910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18161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8:</a:t>
            </a:r>
            <a:r>
              <a:rPr sz="1000" b="1" spc="6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Refinement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Validation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16375" y="147392"/>
            <a:ext cx="593725" cy="535940"/>
            <a:chOff x="3995199" y="150961"/>
            <a:chExt cx="593725" cy="535940"/>
          </a:xfrm>
        </p:grpSpPr>
        <p:sp>
          <p:nvSpPr>
            <p:cNvPr id="3" name="object 3"/>
            <p:cNvSpPr/>
            <p:nvPr/>
          </p:nvSpPr>
          <p:spPr>
            <a:xfrm>
              <a:off x="4065909" y="169861"/>
              <a:ext cx="445770" cy="248920"/>
            </a:xfrm>
            <a:custGeom>
              <a:avLst/>
              <a:gdLst/>
              <a:ahLst/>
              <a:cxnLst/>
              <a:rect l="l" t="t" r="r" b="b"/>
              <a:pathLst>
                <a:path w="445770" h="248920">
                  <a:moveTo>
                    <a:pt x="445759" y="248784"/>
                  </a:moveTo>
                  <a:lnTo>
                    <a:pt x="441751" y="204065"/>
                  </a:lnTo>
                  <a:lnTo>
                    <a:pt x="430195" y="161975"/>
                  </a:lnTo>
                  <a:lnTo>
                    <a:pt x="411793" y="123217"/>
                  </a:lnTo>
                  <a:lnTo>
                    <a:pt x="387249" y="88495"/>
                  </a:lnTo>
                  <a:lnTo>
                    <a:pt x="357264" y="58510"/>
                  </a:lnTo>
                  <a:lnTo>
                    <a:pt x="322542" y="33966"/>
                  </a:lnTo>
                  <a:lnTo>
                    <a:pt x="283784" y="15564"/>
                  </a:lnTo>
                  <a:lnTo>
                    <a:pt x="241694" y="4008"/>
                  </a:lnTo>
                  <a:lnTo>
                    <a:pt x="196974" y="0"/>
                  </a:lnTo>
                  <a:lnTo>
                    <a:pt x="151403" y="4210"/>
                  </a:lnTo>
                  <a:lnTo>
                    <a:pt x="107894" y="16505"/>
                  </a:lnTo>
                  <a:lnTo>
                    <a:pt x="67473" y="36379"/>
                  </a:lnTo>
                  <a:lnTo>
                    <a:pt x="31166" y="63324"/>
                  </a:lnTo>
                  <a:lnTo>
                    <a:pt x="0" y="96836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6459" y="25724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1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1" y="18899"/>
                  </a:lnTo>
                  <a:lnTo>
                    <a:pt x="14669" y="18899"/>
                  </a:lnTo>
                  <a:lnTo>
                    <a:pt x="18900" y="14669"/>
                  </a:lnTo>
                  <a:lnTo>
                    <a:pt x="18900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954" y="341932"/>
              <a:ext cx="153428" cy="1534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4562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10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20698"/>
            <a:ext cx="16021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RANSAC</a:t>
            </a:r>
            <a:r>
              <a:rPr b="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0" y="575310"/>
            <a:ext cx="2209800" cy="288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0225" indent="-169545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1: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Input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Data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2: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Random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Sampling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3:</a:t>
            </a:r>
            <a:r>
              <a:rPr sz="1000" b="1" spc="4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Model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Fitting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4:</a:t>
            </a:r>
            <a:r>
              <a:rPr sz="1000" b="1" spc="5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Inlier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Determination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5: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Count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Inliers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6:</a:t>
            </a:r>
            <a:r>
              <a:rPr sz="1000" b="1" spc="3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Iteration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1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7:</a:t>
            </a:r>
            <a:r>
              <a:rPr sz="1000" b="1" spc="5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Best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Model</a:t>
            </a:r>
            <a:r>
              <a:rPr sz="100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Selection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spcBef>
                <a:spcPts val="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8:</a:t>
            </a:r>
            <a:r>
              <a:rPr sz="1000" b="1" spc="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Final Model Fitting</a:t>
            </a:r>
            <a:endParaRPr sz="1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</a:pPr>
            <a:endParaRPr sz="1050" dirty="0">
              <a:latin typeface="Microsoft Sans Serif"/>
              <a:cs typeface="Microsoft Sans Serif"/>
            </a:endParaRPr>
          </a:p>
          <a:p>
            <a:pPr marL="530225" indent="-169545">
              <a:lnSpc>
                <a:spcPct val="100000"/>
              </a:lnSpc>
              <a:buClr>
                <a:srgbClr val="006889"/>
              </a:buClr>
              <a:buFont typeface="Microsoft Sans Serif"/>
              <a:buAutoNum type="arabicPeriod"/>
              <a:tabLst>
                <a:tab pos="530860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Step</a:t>
            </a:r>
            <a:r>
              <a:rPr sz="1000" b="1" spc="-2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9:</a:t>
            </a:r>
            <a:r>
              <a:rPr sz="1000" b="1" spc="3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Apply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Model</a:t>
            </a:r>
            <a:endParaRPr sz="10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994"/>
              </a:spcBef>
            </a:pP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Preservin</a:t>
            </a:r>
            <a:r>
              <a:rPr sz="1500" spc="-82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1</a:t>
            </a:r>
            <a:r>
              <a:rPr sz="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195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0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He</a:t>
            </a:r>
            <a:r>
              <a:rPr sz="1500" spc="-195" baseline="-11111" dirty="0">
                <a:solidFill>
                  <a:srgbClr val="006889"/>
                </a:solidFill>
                <a:latin typeface="Microsoft Sans Serif"/>
                <a:cs typeface="Microsoft Sans Serif"/>
              </a:rPr>
              <a:t>.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rita</a:t>
            </a:r>
            <a:r>
              <a:rPr sz="1500" b="1" spc="-195" baseline="-11111" dirty="0">
                <a:solidFill>
                  <a:srgbClr val="53606D"/>
                </a:solidFill>
                <a:latin typeface="Arial"/>
                <a:cs typeface="Arial"/>
              </a:rPr>
              <a:t>S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ge</a:t>
            </a:r>
            <a:r>
              <a:rPr sz="1500" b="1" spc="-195" baseline="-11111" dirty="0">
                <a:solidFill>
                  <a:srgbClr val="53606D"/>
                </a:solidFill>
                <a:latin typeface="Arial"/>
                <a:cs typeface="Arial"/>
              </a:rPr>
              <a:t>t</a:t>
            </a:r>
            <a:r>
              <a:rPr sz="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e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Au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p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gme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1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0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ed</a:t>
            </a:r>
            <a:r>
              <a:rPr sz="1500" b="1" spc="-247" baseline="-11111" dirty="0">
                <a:solidFill>
                  <a:srgbClr val="53606D"/>
                </a:solidFill>
                <a:latin typeface="Arial"/>
                <a:cs typeface="Arial"/>
              </a:rPr>
              <a:t>: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Re</a:t>
            </a:r>
            <a:r>
              <a:rPr sz="1500" spc="-24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O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alit</a:t>
            </a:r>
            <a:r>
              <a:rPr sz="1500" spc="-24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u</a:t>
            </a:r>
            <a:r>
              <a:rPr sz="500" spc="-165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tp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u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cie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t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R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Mu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e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ra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s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ls</a:t>
            </a:r>
            <a:r>
              <a:rPr sz="1500" spc="-232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u</a:t>
            </a:r>
            <a:r>
              <a:rPr sz="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50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7" baseline="-11111" dirty="0">
                <a:solidFill>
                  <a:srgbClr val="53606D"/>
                </a:solidFill>
                <a:latin typeface="Microsoft Sans Serif"/>
                <a:cs typeface="Microsoft Sans Serif"/>
              </a:rPr>
              <a:t>lts</a:t>
            </a:r>
            <a:endParaRPr sz="1500" baseline="-11111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090" cy="535940"/>
            <a:chOff x="3995199" y="150961"/>
            <a:chExt cx="593090" cy="535940"/>
          </a:xfrm>
        </p:grpSpPr>
        <p:sp>
          <p:nvSpPr>
            <p:cNvPr id="3" name="object 3"/>
            <p:cNvSpPr/>
            <p:nvPr/>
          </p:nvSpPr>
          <p:spPr>
            <a:xfrm>
              <a:off x="4036884" y="169861"/>
              <a:ext cx="474980" cy="248920"/>
            </a:xfrm>
            <a:custGeom>
              <a:avLst/>
              <a:gdLst/>
              <a:ahLst/>
              <a:cxnLst/>
              <a:rect l="l" t="t" r="r" b="b"/>
              <a:pathLst>
                <a:path w="474979" h="248920">
                  <a:moveTo>
                    <a:pt x="474785" y="248784"/>
                  </a:moveTo>
                  <a:lnTo>
                    <a:pt x="470776" y="204065"/>
                  </a:lnTo>
                  <a:lnTo>
                    <a:pt x="459220" y="161975"/>
                  </a:lnTo>
                  <a:lnTo>
                    <a:pt x="440819" y="123217"/>
                  </a:lnTo>
                  <a:lnTo>
                    <a:pt x="416274" y="88495"/>
                  </a:lnTo>
                  <a:lnTo>
                    <a:pt x="386289" y="58510"/>
                  </a:lnTo>
                  <a:lnTo>
                    <a:pt x="351567" y="33966"/>
                  </a:lnTo>
                  <a:lnTo>
                    <a:pt x="312810" y="15564"/>
                  </a:lnTo>
                  <a:lnTo>
                    <a:pt x="270720" y="4008"/>
                  </a:lnTo>
                  <a:lnTo>
                    <a:pt x="226000" y="0"/>
                  </a:lnTo>
                  <a:lnTo>
                    <a:pt x="178353" y="4599"/>
                  </a:lnTo>
                  <a:lnTo>
                    <a:pt x="133259" y="17936"/>
                  </a:lnTo>
                  <a:lnTo>
                    <a:pt x="91799" y="39318"/>
                  </a:lnTo>
                  <a:lnTo>
                    <a:pt x="55049" y="68053"/>
                  </a:lnTo>
                  <a:lnTo>
                    <a:pt x="24090" y="103448"/>
                  </a:lnTo>
                  <a:lnTo>
                    <a:pt x="0" y="144811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27434" y="305223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900"/>
                  </a:lnTo>
                  <a:lnTo>
                    <a:pt x="14669" y="18900"/>
                  </a:lnTo>
                  <a:lnTo>
                    <a:pt x="18899" y="14669"/>
                  </a:lnTo>
                  <a:lnTo>
                    <a:pt x="18899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662" y="342639"/>
              <a:ext cx="152014" cy="1520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5210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11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20698"/>
            <a:ext cx="23304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Technologies/Software</a:t>
            </a:r>
            <a:r>
              <a:rPr b="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Used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3099" y="663575"/>
            <a:ext cx="3851275" cy="179164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06375" indent="-168910">
              <a:lnSpc>
                <a:spcPct val="100000"/>
              </a:lnSpc>
              <a:spcBef>
                <a:spcPts val="31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207010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AR</a:t>
            </a:r>
            <a:r>
              <a:rPr sz="800" b="1" spc="-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Platforms:</a:t>
            </a:r>
            <a:endParaRPr sz="800" dirty="0">
              <a:latin typeface="Arial"/>
              <a:cs typeface="Arial"/>
            </a:endParaRPr>
          </a:p>
          <a:p>
            <a:pPr marL="459740" marR="228600" lvl="1" indent="-152400">
              <a:lnSpc>
                <a:spcPct val="101499"/>
              </a:lnSpc>
              <a:spcBef>
                <a:spcPts val="180"/>
              </a:spcBef>
              <a:buClr>
                <a:srgbClr val="006889"/>
              </a:buClr>
              <a:buFont typeface="Lucida Sans Unicode"/>
              <a:buChar char="►"/>
              <a:tabLst>
                <a:tab pos="460375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ARCore</a:t>
            </a:r>
            <a:r>
              <a:rPr sz="800" b="1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53606D"/>
                </a:solidFill>
                <a:latin typeface="Arial"/>
                <a:cs typeface="Arial"/>
              </a:rPr>
              <a:t>(Google):</a:t>
            </a:r>
            <a:r>
              <a:rPr sz="8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Frameworks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building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experiences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on </a:t>
            </a:r>
            <a:r>
              <a:rPr sz="800" spc="-2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Android</a:t>
            </a:r>
            <a:endParaRPr sz="800" dirty="0">
              <a:latin typeface="Microsoft Sans Serif"/>
              <a:cs typeface="Microsoft Sans Serif"/>
            </a:endParaRPr>
          </a:p>
          <a:p>
            <a:pPr marL="459740" lvl="1" indent="-152400">
              <a:lnSpc>
                <a:spcPct val="100000"/>
              </a:lnSpc>
              <a:spcBef>
                <a:spcPts val="15"/>
              </a:spcBef>
              <a:buClr>
                <a:srgbClr val="006889"/>
              </a:buClr>
              <a:buFont typeface="Lucida Sans Unicode"/>
              <a:buChar char="►"/>
              <a:tabLst>
                <a:tab pos="460375" algn="l"/>
              </a:tabLst>
            </a:pPr>
            <a:r>
              <a:rPr sz="800" b="1" spc="-15" dirty="0">
                <a:solidFill>
                  <a:srgbClr val="53606D"/>
                </a:solidFill>
                <a:latin typeface="Arial"/>
                <a:cs typeface="Arial"/>
              </a:rPr>
              <a:t>Vuforia: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Frameworks</a:t>
            </a:r>
            <a:r>
              <a:rPr sz="8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building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experiences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on</a:t>
            </a:r>
            <a:r>
              <a:rPr sz="8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 smtClean="0">
                <a:solidFill>
                  <a:srgbClr val="53606D"/>
                </a:solidFill>
                <a:latin typeface="Microsoft Sans Serif"/>
                <a:cs typeface="Microsoft Sans Serif"/>
              </a:rPr>
              <a:t>Android</a:t>
            </a:r>
            <a:r>
              <a:rPr lang="en-IN" sz="800" spc="-5" dirty="0" smtClean="0">
                <a:solidFill>
                  <a:srgbClr val="53606D"/>
                </a:solidFill>
                <a:latin typeface="Microsoft Sans Serif"/>
                <a:cs typeface="Microsoft Sans Serif"/>
              </a:rPr>
              <a:t> and </a:t>
            </a:r>
            <a:r>
              <a:rPr lang="en-IN" sz="800" spc="-5" dirty="0" err="1" smtClean="0">
                <a:solidFill>
                  <a:srgbClr val="53606D"/>
                </a:solidFill>
                <a:latin typeface="Microsoft Sans Serif"/>
                <a:cs typeface="Microsoft Sans Serif"/>
              </a:rPr>
              <a:t>iOS</a:t>
            </a:r>
            <a:endParaRPr sz="800" dirty="0">
              <a:latin typeface="Microsoft Sans Serif"/>
              <a:cs typeface="Microsoft Sans Serif"/>
            </a:endParaRPr>
          </a:p>
          <a:p>
            <a:pPr marL="206375" indent="-168910">
              <a:lnSpc>
                <a:spcPct val="100000"/>
              </a:lnSpc>
              <a:spcBef>
                <a:spcPts val="31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207010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3D</a:t>
            </a:r>
            <a:r>
              <a:rPr sz="800" b="1" spc="-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Modeling</a:t>
            </a:r>
            <a:r>
              <a:rPr sz="800" b="1" spc="-20" dirty="0">
                <a:solidFill>
                  <a:srgbClr val="53606D"/>
                </a:solidFill>
                <a:latin typeface="Arial"/>
                <a:cs typeface="Arial"/>
              </a:rPr>
              <a:t> Tools:</a:t>
            </a:r>
            <a:endParaRPr sz="800" dirty="0">
              <a:latin typeface="Arial"/>
              <a:cs typeface="Arial"/>
            </a:endParaRPr>
          </a:p>
          <a:p>
            <a:pPr marL="459740" lvl="1" indent="-152400">
              <a:lnSpc>
                <a:spcPct val="100000"/>
              </a:lnSpc>
              <a:spcBef>
                <a:spcPts val="195"/>
              </a:spcBef>
              <a:buClr>
                <a:srgbClr val="006889"/>
              </a:buClr>
              <a:buFont typeface="Lucida Sans Unicode"/>
              <a:buChar char="►"/>
              <a:tabLst>
                <a:tab pos="460375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Blender: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Open-source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software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3D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modeling.</a:t>
            </a:r>
            <a:endParaRPr sz="800" dirty="0">
              <a:latin typeface="Microsoft Sans Serif"/>
              <a:cs typeface="Microsoft Sans Serif"/>
            </a:endParaRPr>
          </a:p>
          <a:p>
            <a:pPr marL="459740" marR="30480" lvl="1" indent="-152400">
              <a:lnSpc>
                <a:spcPct val="101499"/>
              </a:lnSpc>
              <a:buClr>
                <a:srgbClr val="006889"/>
              </a:buClr>
              <a:buFont typeface="Lucida Sans Unicode"/>
              <a:buChar char="►"/>
              <a:tabLst>
                <a:tab pos="460375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Unity</a:t>
            </a:r>
            <a:r>
              <a:rPr sz="800" b="1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3D</a:t>
            </a:r>
            <a:r>
              <a:rPr sz="800" b="1" spc="20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lang="en-IN" sz="800" b="1" spc="20" smtClean="0">
                <a:solidFill>
                  <a:srgbClr val="53606D"/>
                </a:solidFill>
                <a:latin typeface="Arial"/>
                <a:cs typeface="Arial"/>
              </a:rPr>
              <a:t>,</a:t>
            </a:r>
            <a:r>
              <a:rPr sz="800" b="1" spc="-5" smtClean="0">
                <a:solidFill>
                  <a:srgbClr val="53606D"/>
                </a:solidFill>
                <a:latin typeface="Arial"/>
                <a:cs typeface="Arial"/>
              </a:rPr>
              <a:t>Unreal</a:t>
            </a:r>
            <a:r>
              <a:rPr sz="800" b="1" spc="5" smtClean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Engine: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Game</a:t>
            </a:r>
            <a:r>
              <a:rPr sz="8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engines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8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developing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interactive </a:t>
            </a:r>
            <a:r>
              <a:rPr sz="800" spc="-2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8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experiences.</a:t>
            </a:r>
            <a:endParaRPr sz="800" dirty="0">
              <a:latin typeface="Microsoft Sans Serif"/>
              <a:cs typeface="Microsoft Sans Serif"/>
            </a:endParaRPr>
          </a:p>
          <a:p>
            <a:pPr marL="206375" indent="-168910">
              <a:lnSpc>
                <a:spcPct val="100000"/>
              </a:lnSpc>
              <a:spcBef>
                <a:spcPts val="215"/>
              </a:spcBef>
              <a:buClr>
                <a:srgbClr val="006889"/>
              </a:buClr>
              <a:buFont typeface="Microsoft Sans Serif"/>
              <a:buAutoNum type="arabicPeriod"/>
              <a:tabLst>
                <a:tab pos="207010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AR</a:t>
            </a:r>
            <a:r>
              <a:rPr sz="800" b="1" spc="-4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Devices:</a:t>
            </a:r>
            <a:endParaRPr sz="800" dirty="0">
              <a:latin typeface="Arial"/>
              <a:cs typeface="Arial"/>
            </a:endParaRPr>
          </a:p>
          <a:p>
            <a:pPr marL="459740" marR="409575" lvl="1" indent="-152400">
              <a:lnSpc>
                <a:spcPct val="101499"/>
              </a:lnSpc>
              <a:spcBef>
                <a:spcPts val="180"/>
              </a:spcBef>
              <a:buClr>
                <a:srgbClr val="006889"/>
              </a:buClr>
              <a:buFont typeface="Lucida Sans Unicode"/>
              <a:buChar char="►"/>
              <a:tabLst>
                <a:tab pos="460375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Microsoft HoloLens: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headset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8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interacting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with</a:t>
            </a:r>
            <a:r>
              <a:rPr sz="8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digital </a:t>
            </a:r>
            <a:r>
              <a:rPr sz="800" spc="-2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content.</a:t>
            </a:r>
            <a:endParaRPr sz="800" dirty="0">
              <a:latin typeface="Microsoft Sans Serif"/>
              <a:cs typeface="Microsoft Sans Serif"/>
            </a:endParaRPr>
          </a:p>
          <a:p>
            <a:pPr marL="459740" marR="60325" lvl="1" indent="-152400">
              <a:lnSpc>
                <a:spcPct val="101499"/>
              </a:lnSpc>
              <a:buClr>
                <a:srgbClr val="006889"/>
              </a:buClr>
              <a:buFont typeface="Lucida Sans Unicode"/>
              <a:buChar char="►"/>
              <a:tabLst>
                <a:tab pos="460375" algn="l"/>
              </a:tabLst>
            </a:pP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AR</a:t>
            </a:r>
            <a:r>
              <a:rPr sz="800" b="1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Glasses</a:t>
            </a:r>
            <a:r>
              <a:rPr sz="800" b="1" dirty="0">
                <a:solidFill>
                  <a:srgbClr val="53606D"/>
                </a:solidFill>
                <a:latin typeface="Arial"/>
                <a:cs typeface="Arial"/>
              </a:rPr>
              <a:t> (e.g.,</a:t>
            </a:r>
            <a:r>
              <a:rPr sz="800" b="1" spc="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Nreal</a:t>
            </a:r>
            <a:r>
              <a:rPr sz="800" b="1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53606D"/>
                </a:solidFill>
                <a:latin typeface="Arial"/>
                <a:cs typeface="Arial"/>
              </a:rPr>
              <a:t>Light):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Lightweight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glasses</a:t>
            </a:r>
            <a:r>
              <a:rPr sz="8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8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displaying </a:t>
            </a:r>
            <a:r>
              <a:rPr sz="800" spc="-2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digital</a:t>
            </a:r>
            <a:r>
              <a:rPr sz="8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800" spc="-15" dirty="0" smtClean="0">
                <a:solidFill>
                  <a:srgbClr val="53606D"/>
                </a:solidFill>
                <a:latin typeface="Microsoft Sans Serif"/>
                <a:cs typeface="Microsoft Sans Serif"/>
              </a:rPr>
              <a:t>overlays.</a:t>
            </a:r>
            <a:endParaRPr lang="en-IN" sz="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090" cy="535940"/>
            <a:chOff x="3995199" y="150961"/>
            <a:chExt cx="593090" cy="535940"/>
          </a:xfrm>
        </p:grpSpPr>
        <p:sp>
          <p:nvSpPr>
            <p:cNvPr id="3" name="object 3"/>
            <p:cNvSpPr/>
            <p:nvPr/>
          </p:nvSpPr>
          <p:spPr>
            <a:xfrm>
              <a:off x="4019338" y="169861"/>
              <a:ext cx="492759" cy="248920"/>
            </a:xfrm>
            <a:custGeom>
              <a:avLst/>
              <a:gdLst/>
              <a:ahLst/>
              <a:cxnLst/>
              <a:rect l="l" t="t" r="r" b="b"/>
              <a:pathLst>
                <a:path w="492760" h="248920">
                  <a:moveTo>
                    <a:pt x="492330" y="248784"/>
                  </a:moveTo>
                  <a:lnTo>
                    <a:pt x="488322" y="204065"/>
                  </a:lnTo>
                  <a:lnTo>
                    <a:pt x="476766" y="161975"/>
                  </a:lnTo>
                  <a:lnTo>
                    <a:pt x="458364" y="123217"/>
                  </a:lnTo>
                  <a:lnTo>
                    <a:pt x="433820" y="88495"/>
                  </a:lnTo>
                  <a:lnTo>
                    <a:pt x="403835" y="58510"/>
                  </a:lnTo>
                  <a:lnTo>
                    <a:pt x="369113" y="33966"/>
                  </a:lnTo>
                  <a:lnTo>
                    <a:pt x="330355" y="15564"/>
                  </a:lnTo>
                  <a:lnTo>
                    <a:pt x="288265" y="4008"/>
                  </a:lnTo>
                  <a:lnTo>
                    <a:pt x="243545" y="0"/>
                  </a:lnTo>
                  <a:lnTo>
                    <a:pt x="194212" y="4917"/>
                  </a:lnTo>
                  <a:lnTo>
                    <a:pt x="147933" y="19087"/>
                  </a:lnTo>
                  <a:lnTo>
                    <a:pt x="105783" y="41633"/>
                  </a:lnTo>
                  <a:lnTo>
                    <a:pt x="68839" y="71680"/>
                  </a:lnTo>
                  <a:lnTo>
                    <a:pt x="38176" y="108351"/>
                  </a:lnTo>
                  <a:lnTo>
                    <a:pt x="14871" y="150771"/>
                  </a:lnTo>
                  <a:lnTo>
                    <a:pt x="0" y="198064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09888" y="35847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1"/>
                  </a:lnTo>
                  <a:lnTo>
                    <a:pt x="0" y="14669"/>
                  </a:lnTo>
                  <a:lnTo>
                    <a:pt x="4230" y="18900"/>
                  </a:lnTo>
                  <a:lnTo>
                    <a:pt x="14669" y="18900"/>
                  </a:lnTo>
                  <a:lnTo>
                    <a:pt x="18900" y="14669"/>
                  </a:lnTo>
                  <a:lnTo>
                    <a:pt x="18900" y="4231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662" y="342639"/>
              <a:ext cx="152014" cy="1520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5210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12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21790"/>
            <a:ext cx="1281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Analytic</a:t>
            </a:r>
            <a:r>
              <a:rPr b="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Study</a:t>
            </a:r>
            <a:r>
              <a:rPr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" y="815975"/>
            <a:ext cx="4114800" cy="1828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6250" y="2797175"/>
            <a:ext cx="377761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Figure:</a:t>
            </a:r>
            <a:r>
              <a:rPr sz="900" spc="2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9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Average</a:t>
            </a:r>
            <a:r>
              <a:rPr sz="900" spc="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Number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900" spc="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Matches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900" spc="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Different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Algorithms</a:t>
            </a:r>
            <a:r>
              <a:rPr sz="900" spc="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under</a:t>
            </a:r>
            <a:r>
              <a:rPr sz="900" spc="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Various </a:t>
            </a:r>
            <a:r>
              <a:rPr sz="900" spc="-22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Transformations</a:t>
            </a:r>
            <a:endParaRPr sz="9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725" cy="535940"/>
            <a:chOff x="3995199" y="150961"/>
            <a:chExt cx="593725" cy="535940"/>
          </a:xfrm>
        </p:grpSpPr>
        <p:sp>
          <p:nvSpPr>
            <p:cNvPr id="3" name="object 3"/>
            <p:cNvSpPr/>
            <p:nvPr/>
          </p:nvSpPr>
          <p:spPr>
            <a:xfrm>
              <a:off x="4014164" y="169861"/>
              <a:ext cx="497840" cy="254000"/>
            </a:xfrm>
            <a:custGeom>
              <a:avLst/>
              <a:gdLst/>
              <a:ahLst/>
              <a:cxnLst/>
              <a:rect l="l" t="t" r="r" b="b"/>
              <a:pathLst>
                <a:path w="497839" h="254000">
                  <a:moveTo>
                    <a:pt x="497505" y="248784"/>
                  </a:moveTo>
                  <a:lnTo>
                    <a:pt x="493496" y="204065"/>
                  </a:lnTo>
                  <a:lnTo>
                    <a:pt x="481940" y="161975"/>
                  </a:lnTo>
                  <a:lnTo>
                    <a:pt x="463539" y="123217"/>
                  </a:lnTo>
                  <a:lnTo>
                    <a:pt x="438994" y="88495"/>
                  </a:lnTo>
                  <a:lnTo>
                    <a:pt x="409009" y="58510"/>
                  </a:lnTo>
                  <a:lnTo>
                    <a:pt x="374287" y="33966"/>
                  </a:lnTo>
                  <a:lnTo>
                    <a:pt x="335529" y="15564"/>
                  </a:lnTo>
                  <a:lnTo>
                    <a:pt x="293439" y="4008"/>
                  </a:lnTo>
                  <a:lnTo>
                    <a:pt x="248720" y="0"/>
                  </a:lnTo>
                  <a:lnTo>
                    <a:pt x="196451" y="5548"/>
                  </a:lnTo>
                  <a:lnTo>
                    <a:pt x="147285" y="21620"/>
                  </a:lnTo>
                  <a:lnTo>
                    <a:pt x="102706" y="47357"/>
                  </a:lnTo>
                  <a:lnTo>
                    <a:pt x="64204" y="81900"/>
                  </a:lnTo>
                  <a:lnTo>
                    <a:pt x="33265" y="124392"/>
                  </a:lnTo>
                  <a:lnTo>
                    <a:pt x="7772" y="186865"/>
                  </a:lnTo>
                  <a:lnTo>
                    <a:pt x="1612" y="220039"/>
                  </a:lnTo>
                  <a:lnTo>
                    <a:pt x="0" y="253890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04714" y="41430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899"/>
                  </a:lnTo>
                  <a:lnTo>
                    <a:pt x="14669" y="18899"/>
                  </a:lnTo>
                  <a:lnTo>
                    <a:pt x="18899" y="14669"/>
                  </a:lnTo>
                  <a:lnTo>
                    <a:pt x="18899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954" y="341932"/>
              <a:ext cx="153428" cy="1534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4562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13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21790"/>
            <a:ext cx="13322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Analytic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Study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II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" y="660400"/>
            <a:ext cx="3962400" cy="22161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1367" y="2988511"/>
            <a:ext cx="2468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Figure:</a:t>
            </a:r>
            <a:r>
              <a:rPr sz="9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9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Average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match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count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comparison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results</a:t>
            </a:r>
            <a:endParaRPr sz="9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090" cy="535940"/>
            <a:chOff x="3995199" y="150961"/>
            <a:chExt cx="593090" cy="535940"/>
          </a:xfrm>
        </p:grpSpPr>
        <p:sp>
          <p:nvSpPr>
            <p:cNvPr id="3" name="object 3"/>
            <p:cNvSpPr/>
            <p:nvPr/>
          </p:nvSpPr>
          <p:spPr>
            <a:xfrm>
              <a:off x="4014456" y="169861"/>
              <a:ext cx="497840" cy="309880"/>
            </a:xfrm>
            <a:custGeom>
              <a:avLst/>
              <a:gdLst/>
              <a:ahLst/>
              <a:cxnLst/>
              <a:rect l="l" t="t" r="r" b="b"/>
              <a:pathLst>
                <a:path w="497839" h="309880">
                  <a:moveTo>
                    <a:pt x="497213" y="248784"/>
                  </a:moveTo>
                  <a:lnTo>
                    <a:pt x="493204" y="204065"/>
                  </a:lnTo>
                  <a:lnTo>
                    <a:pt x="481648" y="161975"/>
                  </a:lnTo>
                  <a:lnTo>
                    <a:pt x="463247" y="123217"/>
                  </a:lnTo>
                  <a:lnTo>
                    <a:pt x="438702" y="88495"/>
                  </a:lnTo>
                  <a:lnTo>
                    <a:pt x="408717" y="58510"/>
                  </a:lnTo>
                  <a:lnTo>
                    <a:pt x="373995" y="33966"/>
                  </a:lnTo>
                  <a:lnTo>
                    <a:pt x="335237" y="15564"/>
                  </a:lnTo>
                  <a:lnTo>
                    <a:pt x="293147" y="4008"/>
                  </a:lnTo>
                  <a:lnTo>
                    <a:pt x="248428" y="0"/>
                  </a:lnTo>
                  <a:lnTo>
                    <a:pt x="196159" y="5548"/>
                  </a:lnTo>
                  <a:lnTo>
                    <a:pt x="146993" y="21620"/>
                  </a:lnTo>
                  <a:lnTo>
                    <a:pt x="102414" y="47357"/>
                  </a:lnTo>
                  <a:lnTo>
                    <a:pt x="63912" y="81900"/>
                  </a:lnTo>
                  <a:lnTo>
                    <a:pt x="32973" y="124392"/>
                  </a:lnTo>
                  <a:lnTo>
                    <a:pt x="13087" y="168111"/>
                  </a:lnTo>
                  <a:lnTo>
                    <a:pt x="2035" y="214410"/>
                  </a:lnTo>
                  <a:lnTo>
                    <a:pt x="0" y="261967"/>
                  </a:lnTo>
                  <a:lnTo>
                    <a:pt x="7163" y="309458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12169" y="469870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900"/>
                  </a:lnTo>
                  <a:lnTo>
                    <a:pt x="14669" y="18900"/>
                  </a:lnTo>
                  <a:lnTo>
                    <a:pt x="18900" y="14669"/>
                  </a:lnTo>
                  <a:lnTo>
                    <a:pt x="18900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662" y="342639"/>
              <a:ext cx="152014" cy="1520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5210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14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21790"/>
            <a:ext cx="1383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Analytic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Study</a:t>
            </a:r>
            <a:r>
              <a:rPr sz="1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III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250" y="663575"/>
            <a:ext cx="3657600" cy="2209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63526" y="2967987"/>
            <a:ext cx="32810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Figure:</a:t>
            </a:r>
            <a:r>
              <a:rPr sz="9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Preservation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using</a:t>
            </a:r>
            <a:r>
              <a:rPr sz="900" spc="2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Augmented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Reality</a:t>
            </a:r>
            <a:endParaRPr sz="9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725" cy="535940"/>
            <a:chOff x="3995199" y="150961"/>
            <a:chExt cx="593725" cy="535940"/>
          </a:xfrm>
        </p:grpSpPr>
        <p:sp>
          <p:nvSpPr>
            <p:cNvPr id="3" name="object 3"/>
            <p:cNvSpPr/>
            <p:nvPr/>
          </p:nvSpPr>
          <p:spPr>
            <a:xfrm>
              <a:off x="4014099" y="169861"/>
              <a:ext cx="497840" cy="361950"/>
            </a:xfrm>
            <a:custGeom>
              <a:avLst/>
              <a:gdLst/>
              <a:ahLst/>
              <a:cxnLst/>
              <a:rect l="l" t="t" r="r" b="b"/>
              <a:pathLst>
                <a:path w="497839" h="361950">
                  <a:moveTo>
                    <a:pt x="497569" y="248784"/>
                  </a:moveTo>
                  <a:lnTo>
                    <a:pt x="493561" y="204065"/>
                  </a:lnTo>
                  <a:lnTo>
                    <a:pt x="482005" y="161975"/>
                  </a:lnTo>
                  <a:lnTo>
                    <a:pt x="463603" y="123217"/>
                  </a:lnTo>
                  <a:lnTo>
                    <a:pt x="439059" y="88495"/>
                  </a:lnTo>
                  <a:lnTo>
                    <a:pt x="409074" y="58510"/>
                  </a:lnTo>
                  <a:lnTo>
                    <a:pt x="374352" y="33966"/>
                  </a:lnTo>
                  <a:lnTo>
                    <a:pt x="335594" y="15564"/>
                  </a:lnTo>
                  <a:lnTo>
                    <a:pt x="293504" y="4008"/>
                  </a:lnTo>
                  <a:lnTo>
                    <a:pt x="248784" y="0"/>
                  </a:lnTo>
                  <a:lnTo>
                    <a:pt x="204064" y="4008"/>
                  </a:lnTo>
                  <a:lnTo>
                    <a:pt x="161975" y="15564"/>
                  </a:lnTo>
                  <a:lnTo>
                    <a:pt x="123217" y="33966"/>
                  </a:lnTo>
                  <a:lnTo>
                    <a:pt x="88495" y="58510"/>
                  </a:lnTo>
                  <a:lnTo>
                    <a:pt x="58510" y="88495"/>
                  </a:lnTo>
                  <a:lnTo>
                    <a:pt x="33966" y="123217"/>
                  </a:lnTo>
                  <a:lnTo>
                    <a:pt x="15564" y="161975"/>
                  </a:lnTo>
                  <a:lnTo>
                    <a:pt x="4008" y="204065"/>
                  </a:lnTo>
                  <a:lnTo>
                    <a:pt x="0" y="248784"/>
                  </a:lnTo>
                  <a:lnTo>
                    <a:pt x="1739" y="278134"/>
                  </a:lnTo>
                  <a:lnTo>
                    <a:pt x="6909" y="306983"/>
                  </a:lnTo>
                  <a:lnTo>
                    <a:pt x="15433" y="335024"/>
                  </a:lnTo>
                  <a:lnTo>
                    <a:pt x="27237" y="361951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31886" y="522363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900"/>
                  </a:lnTo>
                  <a:lnTo>
                    <a:pt x="14669" y="18900"/>
                  </a:lnTo>
                  <a:lnTo>
                    <a:pt x="18900" y="14669"/>
                  </a:lnTo>
                  <a:lnTo>
                    <a:pt x="18900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954" y="341932"/>
              <a:ext cx="153428" cy="1534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4562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15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39100"/>
            <a:ext cx="927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Conclusion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3283" y="1068621"/>
            <a:ext cx="3845560" cy="1544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323850" indent="-161925">
              <a:lnSpc>
                <a:spcPct val="100000"/>
              </a:lnSpc>
              <a:spcBef>
                <a:spcPts val="95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This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study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introduces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new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3606D"/>
                </a:solidFill>
                <a:latin typeface="Microsoft Sans Serif"/>
                <a:cs typeface="Microsoft Sans Serif"/>
              </a:rPr>
              <a:t>way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improve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preservation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using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augmented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reality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technology.</a:t>
            </a:r>
            <a:endParaRPr sz="1000">
              <a:latin typeface="Microsoft Sans Serif"/>
              <a:cs typeface="Microsoft Sans Serif"/>
            </a:endParaRPr>
          </a:p>
          <a:p>
            <a:pPr marL="199390" marR="30480" indent="-161925">
              <a:lnSpc>
                <a:spcPct val="100000"/>
              </a:lnSpc>
              <a:spcBef>
                <a:spcPts val="290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platform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provide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researchers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with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detailed,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interactive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digital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representations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in-depth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analysis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3606D"/>
                </a:solidFill>
                <a:latin typeface="Microsoft Sans Serif"/>
                <a:cs typeface="Microsoft Sans Serif"/>
              </a:rPr>
              <a:t>study.</a:t>
            </a:r>
            <a:endParaRPr sz="1000">
              <a:latin typeface="Microsoft Sans Serif"/>
              <a:cs typeface="Microsoft Sans Serif"/>
            </a:endParaRPr>
          </a:p>
          <a:p>
            <a:pPr marL="199390" marR="207645" indent="-161925">
              <a:lnSpc>
                <a:spcPct val="100000"/>
              </a:lnSpc>
              <a:spcBef>
                <a:spcPts val="290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reduce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risks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accidental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damage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caused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by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traditional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close</a:t>
            </a:r>
            <a:r>
              <a:rPr sz="10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examination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methods.</a:t>
            </a:r>
            <a:endParaRPr sz="1000">
              <a:latin typeface="Microsoft Sans Serif"/>
              <a:cs typeface="Microsoft Sans Serif"/>
            </a:endParaRPr>
          </a:p>
          <a:p>
            <a:pPr marL="199390" indent="-161925">
              <a:lnSpc>
                <a:spcPct val="100000"/>
              </a:lnSpc>
              <a:spcBef>
                <a:spcPts val="290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makes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available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broader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audiences.</a:t>
            </a:r>
            <a:endParaRPr sz="1000">
              <a:latin typeface="Microsoft Sans Serif"/>
              <a:cs typeface="Microsoft Sans Serif"/>
            </a:endParaRPr>
          </a:p>
          <a:p>
            <a:pPr marL="199390" marR="114300" indent="-161925">
              <a:lnSpc>
                <a:spcPct val="100000"/>
              </a:lnSpc>
              <a:spcBef>
                <a:spcPts val="295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In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end,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it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makes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experience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of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ancient</a:t>
            </a:r>
            <a:r>
              <a:rPr sz="10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murals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smoother </a:t>
            </a:r>
            <a:r>
              <a:rPr sz="1000" spc="-25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more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reliable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for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everyone</a:t>
            </a:r>
            <a:r>
              <a:rPr sz="10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involved.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725" cy="535940"/>
            <a:chOff x="3995199" y="150961"/>
            <a:chExt cx="593725" cy="535940"/>
          </a:xfrm>
        </p:grpSpPr>
        <p:sp>
          <p:nvSpPr>
            <p:cNvPr id="3" name="object 3"/>
            <p:cNvSpPr/>
            <p:nvPr/>
          </p:nvSpPr>
          <p:spPr>
            <a:xfrm>
              <a:off x="4014099" y="169861"/>
              <a:ext cx="497840" cy="408940"/>
            </a:xfrm>
            <a:custGeom>
              <a:avLst/>
              <a:gdLst/>
              <a:ahLst/>
              <a:cxnLst/>
              <a:rect l="l" t="t" r="r" b="b"/>
              <a:pathLst>
                <a:path w="497839" h="408940">
                  <a:moveTo>
                    <a:pt x="497569" y="248784"/>
                  </a:moveTo>
                  <a:lnTo>
                    <a:pt x="493561" y="204065"/>
                  </a:lnTo>
                  <a:lnTo>
                    <a:pt x="482005" y="161975"/>
                  </a:lnTo>
                  <a:lnTo>
                    <a:pt x="463603" y="123217"/>
                  </a:lnTo>
                  <a:lnTo>
                    <a:pt x="439059" y="88495"/>
                  </a:lnTo>
                  <a:lnTo>
                    <a:pt x="409074" y="58510"/>
                  </a:lnTo>
                  <a:lnTo>
                    <a:pt x="374352" y="33966"/>
                  </a:lnTo>
                  <a:lnTo>
                    <a:pt x="335594" y="15564"/>
                  </a:lnTo>
                  <a:lnTo>
                    <a:pt x="293504" y="4008"/>
                  </a:lnTo>
                  <a:lnTo>
                    <a:pt x="248784" y="0"/>
                  </a:lnTo>
                  <a:lnTo>
                    <a:pt x="204064" y="4008"/>
                  </a:lnTo>
                  <a:lnTo>
                    <a:pt x="161975" y="15564"/>
                  </a:lnTo>
                  <a:lnTo>
                    <a:pt x="123217" y="33966"/>
                  </a:lnTo>
                  <a:lnTo>
                    <a:pt x="88495" y="58510"/>
                  </a:lnTo>
                  <a:lnTo>
                    <a:pt x="58510" y="88495"/>
                  </a:lnTo>
                  <a:lnTo>
                    <a:pt x="33966" y="123217"/>
                  </a:lnTo>
                  <a:lnTo>
                    <a:pt x="15564" y="161975"/>
                  </a:lnTo>
                  <a:lnTo>
                    <a:pt x="4008" y="204065"/>
                  </a:lnTo>
                  <a:lnTo>
                    <a:pt x="0" y="248784"/>
                  </a:lnTo>
                  <a:lnTo>
                    <a:pt x="3808" y="292144"/>
                  </a:lnTo>
                  <a:lnTo>
                    <a:pt x="15005" y="333874"/>
                  </a:lnTo>
                  <a:lnTo>
                    <a:pt x="33252" y="373038"/>
                  </a:lnTo>
                  <a:lnTo>
                    <a:pt x="58206" y="408701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2856" y="569113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1"/>
                  </a:lnTo>
                  <a:lnTo>
                    <a:pt x="0" y="14669"/>
                  </a:lnTo>
                  <a:lnTo>
                    <a:pt x="4230" y="18900"/>
                  </a:lnTo>
                  <a:lnTo>
                    <a:pt x="14669" y="18900"/>
                  </a:lnTo>
                  <a:lnTo>
                    <a:pt x="18899" y="14669"/>
                  </a:lnTo>
                  <a:lnTo>
                    <a:pt x="18899" y="4231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954" y="341932"/>
              <a:ext cx="153428" cy="1534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4562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16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37830"/>
            <a:ext cx="10255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Future</a:t>
            </a:r>
            <a:r>
              <a:rPr b="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3283" y="1275448"/>
            <a:ext cx="2386965" cy="9874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99390" indent="-161925">
              <a:lnSpc>
                <a:spcPct val="100000"/>
              </a:lnSpc>
              <a:spcBef>
                <a:spcPts val="315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b="1" spc="-10" dirty="0">
                <a:solidFill>
                  <a:srgbClr val="53606D"/>
                </a:solidFill>
                <a:latin typeface="Arial"/>
                <a:cs typeface="Arial"/>
              </a:rPr>
              <a:t>Technological</a:t>
            </a:r>
            <a:r>
              <a:rPr sz="1000" b="1" spc="-3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Advancements:</a:t>
            </a:r>
            <a:endParaRPr sz="1000">
              <a:latin typeface="Arial"/>
              <a:cs typeface="Arial"/>
            </a:endParaRPr>
          </a:p>
          <a:p>
            <a:pPr marL="452755" lvl="1" indent="-152400">
              <a:lnSpc>
                <a:spcPct val="100000"/>
              </a:lnSpc>
              <a:spcBef>
                <a:spcPts val="195"/>
              </a:spcBef>
              <a:buClr>
                <a:srgbClr val="006889"/>
              </a:buClr>
              <a:buFont typeface="Lucida Sans Unicode"/>
              <a:buChar char="►"/>
              <a:tabLst>
                <a:tab pos="453390" algn="l"/>
              </a:tabLst>
            </a:pP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Enhance</a:t>
            </a:r>
            <a:r>
              <a:rPr sz="9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features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with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AI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and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ML.</a:t>
            </a:r>
            <a:endParaRPr sz="900">
              <a:latin typeface="Microsoft Sans Serif"/>
              <a:cs typeface="Microsoft Sans Serif"/>
            </a:endParaRPr>
          </a:p>
          <a:p>
            <a:pPr marL="452755" lvl="1" indent="-152400">
              <a:lnSpc>
                <a:spcPct val="100000"/>
              </a:lnSpc>
              <a:spcBef>
                <a:spcPts val="15"/>
              </a:spcBef>
              <a:buClr>
                <a:srgbClr val="006889"/>
              </a:buClr>
              <a:buFont typeface="Lucida Sans Unicode"/>
              <a:buChar char="►"/>
              <a:tabLst>
                <a:tab pos="453390" algn="l"/>
              </a:tabLst>
            </a:pPr>
            <a:r>
              <a:rPr sz="900" spc="-15" dirty="0">
                <a:solidFill>
                  <a:srgbClr val="53606D"/>
                </a:solidFill>
                <a:latin typeface="Microsoft Sans Serif"/>
                <a:cs typeface="Microsoft Sans Serif"/>
              </a:rPr>
              <a:t>Develop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user-friendly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AR</a:t>
            </a:r>
            <a:r>
              <a:rPr sz="900" spc="1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hardware.</a:t>
            </a:r>
            <a:endParaRPr sz="900">
              <a:latin typeface="Microsoft Sans Serif"/>
              <a:cs typeface="Microsoft Sans Serif"/>
            </a:endParaRPr>
          </a:p>
          <a:p>
            <a:pPr marL="199390" indent="-161925">
              <a:lnSpc>
                <a:spcPct val="100000"/>
              </a:lnSpc>
              <a:spcBef>
                <a:spcPts val="215"/>
              </a:spcBef>
              <a:buClr>
                <a:srgbClr val="006889"/>
              </a:buClr>
              <a:buFont typeface="Lucida Sans Unicode"/>
              <a:buChar char="►"/>
              <a:tabLst>
                <a:tab pos="200025" algn="l"/>
              </a:tabLst>
            </a:pP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Broader</a:t>
            </a:r>
            <a:r>
              <a:rPr sz="1000" b="1" spc="-35" dirty="0">
                <a:solidFill>
                  <a:srgbClr val="53606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3606D"/>
                </a:solidFill>
                <a:latin typeface="Arial"/>
                <a:cs typeface="Arial"/>
              </a:rPr>
              <a:t>Applications:</a:t>
            </a:r>
            <a:endParaRPr sz="1000">
              <a:latin typeface="Arial"/>
              <a:cs typeface="Arial"/>
            </a:endParaRPr>
          </a:p>
          <a:p>
            <a:pPr marL="452755" lvl="1" indent="-152400">
              <a:lnSpc>
                <a:spcPct val="100000"/>
              </a:lnSpc>
              <a:spcBef>
                <a:spcPts val="195"/>
              </a:spcBef>
              <a:buClr>
                <a:srgbClr val="006889"/>
              </a:buClr>
              <a:buFont typeface="Lucida Sans Unicode"/>
              <a:buChar char="►"/>
              <a:tabLst>
                <a:tab pos="453390" algn="l"/>
              </a:tabLst>
            </a:pP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Expand</a:t>
            </a:r>
            <a:r>
              <a:rPr sz="9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diverse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cultural</a:t>
            </a:r>
            <a:r>
              <a:rPr sz="9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contexts.</a:t>
            </a:r>
            <a:endParaRPr sz="900">
              <a:latin typeface="Microsoft Sans Serif"/>
              <a:cs typeface="Microsoft Sans Serif"/>
            </a:endParaRPr>
          </a:p>
          <a:p>
            <a:pPr marL="452755" lvl="1" indent="-152400">
              <a:lnSpc>
                <a:spcPct val="100000"/>
              </a:lnSpc>
              <a:spcBef>
                <a:spcPts val="20"/>
              </a:spcBef>
              <a:buClr>
                <a:srgbClr val="006889"/>
              </a:buClr>
              <a:buFont typeface="Lucida Sans Unicode"/>
              <a:buChar char="►"/>
              <a:tabLst>
                <a:tab pos="453390" algn="l"/>
              </a:tabLst>
            </a:pP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Create</a:t>
            </a:r>
            <a:r>
              <a:rPr sz="900" spc="5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3606D"/>
                </a:solidFill>
                <a:latin typeface="Microsoft Sans Serif"/>
                <a:cs typeface="Microsoft Sans Serif"/>
              </a:rPr>
              <a:t>interactive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educational</a:t>
            </a:r>
            <a:r>
              <a:rPr sz="900" spc="10" dirty="0">
                <a:solidFill>
                  <a:srgbClr val="53606D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tools.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5199" y="150961"/>
            <a:ext cx="593090" cy="535940"/>
            <a:chOff x="3995199" y="150961"/>
            <a:chExt cx="593090" cy="535940"/>
          </a:xfrm>
        </p:grpSpPr>
        <p:sp>
          <p:nvSpPr>
            <p:cNvPr id="3" name="object 3"/>
            <p:cNvSpPr/>
            <p:nvPr/>
          </p:nvSpPr>
          <p:spPr>
            <a:xfrm>
              <a:off x="4014099" y="169861"/>
              <a:ext cx="497840" cy="447675"/>
            </a:xfrm>
            <a:custGeom>
              <a:avLst/>
              <a:gdLst/>
              <a:ahLst/>
              <a:cxnLst/>
              <a:rect l="l" t="t" r="r" b="b"/>
              <a:pathLst>
                <a:path w="497839" h="447675">
                  <a:moveTo>
                    <a:pt x="497569" y="248784"/>
                  </a:moveTo>
                  <a:lnTo>
                    <a:pt x="493561" y="204065"/>
                  </a:lnTo>
                  <a:lnTo>
                    <a:pt x="482005" y="161975"/>
                  </a:lnTo>
                  <a:lnTo>
                    <a:pt x="463603" y="123217"/>
                  </a:lnTo>
                  <a:lnTo>
                    <a:pt x="439059" y="88495"/>
                  </a:lnTo>
                  <a:lnTo>
                    <a:pt x="409074" y="58510"/>
                  </a:lnTo>
                  <a:lnTo>
                    <a:pt x="374352" y="33966"/>
                  </a:lnTo>
                  <a:lnTo>
                    <a:pt x="335594" y="15564"/>
                  </a:lnTo>
                  <a:lnTo>
                    <a:pt x="293504" y="4008"/>
                  </a:lnTo>
                  <a:lnTo>
                    <a:pt x="248784" y="0"/>
                  </a:lnTo>
                  <a:lnTo>
                    <a:pt x="204064" y="4008"/>
                  </a:lnTo>
                  <a:lnTo>
                    <a:pt x="161975" y="15564"/>
                  </a:lnTo>
                  <a:lnTo>
                    <a:pt x="123217" y="33966"/>
                  </a:lnTo>
                  <a:lnTo>
                    <a:pt x="88495" y="58510"/>
                  </a:lnTo>
                  <a:lnTo>
                    <a:pt x="58510" y="88495"/>
                  </a:lnTo>
                  <a:lnTo>
                    <a:pt x="33966" y="123217"/>
                  </a:lnTo>
                  <a:lnTo>
                    <a:pt x="15564" y="161975"/>
                  </a:lnTo>
                  <a:lnTo>
                    <a:pt x="4008" y="204065"/>
                  </a:lnTo>
                  <a:lnTo>
                    <a:pt x="0" y="248784"/>
                  </a:lnTo>
                  <a:lnTo>
                    <a:pt x="4305" y="294874"/>
                  </a:lnTo>
                  <a:lnTo>
                    <a:pt x="16871" y="338828"/>
                  </a:lnTo>
                  <a:lnTo>
                    <a:pt x="37171" y="379591"/>
                  </a:lnTo>
                  <a:lnTo>
                    <a:pt x="64677" y="416106"/>
                  </a:lnTo>
                  <a:lnTo>
                    <a:pt x="98863" y="447316"/>
                  </a:lnTo>
                </a:path>
              </a:pathLst>
            </a:custGeom>
            <a:ln w="7559">
              <a:solidFill>
                <a:srgbClr val="0068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03513" y="60772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4669" y="0"/>
                  </a:moveTo>
                  <a:lnTo>
                    <a:pt x="4230" y="0"/>
                  </a:lnTo>
                  <a:lnTo>
                    <a:pt x="0" y="4230"/>
                  </a:lnTo>
                  <a:lnTo>
                    <a:pt x="0" y="14669"/>
                  </a:lnTo>
                  <a:lnTo>
                    <a:pt x="4230" y="18899"/>
                  </a:lnTo>
                  <a:lnTo>
                    <a:pt x="14669" y="18899"/>
                  </a:lnTo>
                  <a:lnTo>
                    <a:pt x="18899" y="14669"/>
                  </a:lnTo>
                  <a:lnTo>
                    <a:pt x="18899" y="4230"/>
                  </a:lnTo>
                  <a:lnTo>
                    <a:pt x="14669" y="0"/>
                  </a:lnTo>
                  <a:close/>
                </a:path>
              </a:pathLst>
            </a:custGeom>
            <a:solidFill>
              <a:srgbClr val="0068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662" y="342639"/>
              <a:ext cx="152014" cy="1520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63732" y="365210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53606D"/>
                </a:solidFill>
                <a:latin typeface="Microsoft Sans Serif"/>
                <a:cs typeface="Microsoft Sans Serif"/>
              </a:rPr>
              <a:t>17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Preserving</a:t>
            </a:r>
            <a:r>
              <a:rPr spc="10" dirty="0"/>
              <a:t> </a:t>
            </a:r>
            <a:r>
              <a:rPr spc="-5" dirty="0"/>
              <a:t>Heritage</a:t>
            </a:r>
            <a:r>
              <a:rPr spc="15" dirty="0"/>
              <a:t> </a:t>
            </a:r>
            <a:r>
              <a:rPr spc="-5" dirty="0"/>
              <a:t>:</a:t>
            </a:r>
            <a:r>
              <a:rPr spc="45" dirty="0"/>
              <a:t> </a:t>
            </a:r>
            <a:r>
              <a:rPr spc="-5" dirty="0"/>
              <a:t>Augmented</a:t>
            </a:r>
            <a:r>
              <a:rPr spc="15" dirty="0"/>
              <a:t> </a:t>
            </a:r>
            <a:r>
              <a:rPr spc="-5" dirty="0"/>
              <a:t>Reality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15" dirty="0"/>
              <a:t> </a:t>
            </a:r>
            <a:r>
              <a:rPr spc="-5" dirty="0"/>
              <a:t>Ancient</a:t>
            </a:r>
            <a:r>
              <a:rPr spc="15" dirty="0"/>
              <a:t> </a:t>
            </a:r>
            <a:r>
              <a:rPr spc="-5" dirty="0"/>
              <a:t>Murals</a:t>
            </a:r>
            <a:r>
              <a:rPr spc="10" dirty="0"/>
              <a:t> </a:t>
            </a:r>
            <a:r>
              <a:rPr spc="-5" dirty="0"/>
              <a:t>|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139926"/>
            <a:ext cx="9518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References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7294" y="1302822"/>
            <a:ext cx="3842385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252729" indent="-274320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286385" algn="l"/>
                <a:tab pos="287020" algn="l"/>
              </a:tabLst>
            </a:pP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Mingming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Zhang,</a:t>
            </a:r>
            <a:r>
              <a:rPr sz="10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Application</a:t>
            </a:r>
            <a:r>
              <a:rPr sz="10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of</a:t>
            </a:r>
            <a:r>
              <a:rPr sz="10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Computer</a:t>
            </a:r>
            <a:r>
              <a:rPr sz="1000" spc="1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006889"/>
                </a:solidFill>
                <a:latin typeface="Microsoft Sans Serif"/>
                <a:cs typeface="Microsoft Sans Serif"/>
              </a:rPr>
              <a:t>Augmented </a:t>
            </a:r>
            <a:r>
              <a:rPr sz="1000" spc="-254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Reality</a:t>
            </a:r>
            <a:r>
              <a:rPr sz="1000" spc="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006889"/>
                </a:solidFill>
                <a:latin typeface="Microsoft Sans Serif"/>
                <a:cs typeface="Microsoft Sans Serif"/>
              </a:rPr>
              <a:t>Technology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in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Ancient</a:t>
            </a:r>
            <a:r>
              <a:rPr sz="1000" spc="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006889"/>
                </a:solidFill>
                <a:latin typeface="Microsoft Sans Serif"/>
                <a:cs typeface="Microsoft Sans Serif"/>
              </a:rPr>
              <a:t>Murals,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Mobile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Information </a:t>
            </a:r>
            <a:r>
              <a:rPr sz="100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Systems</a:t>
            </a:r>
            <a:r>
              <a:rPr sz="1000" spc="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2022.</a:t>
            </a:r>
            <a:endParaRPr sz="1000">
              <a:latin typeface="Microsoft Sans Serif"/>
              <a:cs typeface="Microsoft Sans Serif"/>
            </a:endParaRPr>
          </a:p>
          <a:p>
            <a:pPr marL="286385" marR="5080" indent="-274320">
              <a:lnSpc>
                <a:spcPct val="100000"/>
              </a:lnSpc>
              <a:spcBef>
                <a:spcPts val="595"/>
              </a:spcBef>
              <a:buAutoNum type="arabicPlain"/>
              <a:tabLst>
                <a:tab pos="286385" algn="l"/>
                <a:tab pos="287020" algn="l"/>
              </a:tabLst>
            </a:pP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Eliana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Siotto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006889"/>
                </a:solidFill>
                <a:latin typeface="Microsoft Sans Serif"/>
                <a:cs typeface="Microsoft Sans Serif"/>
              </a:rPr>
              <a:t>,Paolo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Cignoni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Digital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methods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techniques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006889"/>
                </a:solidFill>
                <a:latin typeface="Microsoft Sans Serif"/>
                <a:cs typeface="Microsoft Sans Serif"/>
              </a:rPr>
              <a:t>for </a:t>
            </a:r>
            <a:r>
              <a:rPr sz="1000" spc="-25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reconstructing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and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visualizing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ancient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3D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polychromy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85" dirty="0">
                <a:solidFill>
                  <a:srgbClr val="006889"/>
                </a:solidFill>
                <a:latin typeface="Microsoft Sans Serif"/>
                <a:cs typeface="Microsoft Sans Serif"/>
              </a:rPr>
              <a:t>–An </a:t>
            </a:r>
            <a:r>
              <a:rPr sz="1000" spc="9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006889"/>
                </a:solidFill>
                <a:latin typeface="Microsoft Sans Serif"/>
                <a:cs typeface="Microsoft Sans Serif"/>
              </a:rPr>
              <a:t>overview,</a:t>
            </a:r>
            <a:r>
              <a:rPr sz="1000" spc="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006889"/>
                </a:solidFill>
                <a:latin typeface="Microsoft Sans Serif"/>
                <a:cs typeface="Microsoft Sans Serif"/>
              </a:rPr>
              <a:t>Journal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of</a:t>
            </a:r>
            <a:r>
              <a:rPr sz="1000" spc="5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Cultural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Heritage,June</a:t>
            </a:r>
            <a:r>
              <a:rPr sz="1000" spc="10" dirty="0">
                <a:solidFill>
                  <a:srgbClr val="006889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006889"/>
                </a:solidFill>
                <a:latin typeface="Microsoft Sans Serif"/>
                <a:cs typeface="Microsoft Sans Serif"/>
              </a:rPr>
              <a:t>2024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Words>846</Words>
  <Application>Microsoft Office PowerPoint</Application>
  <PresentationFormat>Custom</PresentationFormat>
  <Paragraphs>149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</vt:lpstr>
      <vt:lpstr>Georgia</vt:lpstr>
      <vt:lpstr>Lucida Sans Unicode</vt:lpstr>
      <vt:lpstr>Microsoft Sans Serif</vt:lpstr>
      <vt:lpstr>Times New Roman</vt:lpstr>
      <vt:lpstr>Office Theme</vt:lpstr>
      <vt:lpstr>Preserving Heritage : Augmented Reality in  Ancient Murals</vt:lpstr>
      <vt:lpstr>Introduction</vt:lpstr>
      <vt:lpstr>Problem Statement</vt:lpstr>
      <vt:lpstr>Motivation</vt:lpstr>
      <vt:lpstr>Objective</vt:lpstr>
      <vt:lpstr>System Architecture</vt:lpstr>
      <vt:lpstr>SURF Algorithm</vt:lpstr>
      <vt:lpstr>FREAK Algorithm</vt:lpstr>
      <vt:lpstr>RANSAC Algorithm</vt:lpstr>
      <vt:lpstr>Technologies/Software Used</vt:lpstr>
      <vt:lpstr>Analytic Study I</vt:lpstr>
      <vt:lpstr>PowerPoint Presentation</vt:lpstr>
      <vt:lpstr>PowerPoint Presentation</vt:lpstr>
      <vt:lpstr>Conclusion</vt:lpstr>
      <vt:lpstr>Future Work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Preserving Heritage : Augmented Reality in Ancient Murals </dc:title>
  <dc:creator>Tabe Arti Ravindra Under The Guidance Of   Prof. P. N. Kadam   </dc:creator>
  <cp:lastModifiedBy>USER</cp:lastModifiedBy>
  <cp:revision>14</cp:revision>
  <dcterms:created xsi:type="dcterms:W3CDTF">2024-10-24T12:21:51Z</dcterms:created>
  <dcterms:modified xsi:type="dcterms:W3CDTF">2024-10-25T06:22:38Z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2024-10-24T00:00:00Z</vt:filetime>
  </property>
</Properties>
</file>